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8229600" cy="14630400"/>
  <p:embeddedFontLst>
    <p:embeddedFont>
      <p:font typeface="Noto Sans TC" panose="020B0604020202020204" charset="-128"/>
      <p:regular r:id="rId17"/>
    </p:embeddedFont>
    <p:embeddedFont>
      <p:font typeface="Sora Medium" panose="020B0604020202020204" charset="0"/>
      <p:regular r:id="rId18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4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094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11" Type="http://schemas.openxmlformats.org/officeDocument/2006/relationships/image" Target="../media/image8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.png"/><Relationship Id="rId11" Type="http://schemas.openxmlformats.org/officeDocument/2006/relationships/image" Target="../media/image8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SONAURA: Tu guía moderna de cine y series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Opina, vibra y vive el cine y las series de una forma novedosa. Tu nueva plataforma para descubrir contenido audiovisual que realmente te importa.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85493"/>
            <a:ext cx="75096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¿Por qué nace SONAURA?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134433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361248"/>
            <a:ext cx="51562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Frustración por exceso de opciones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851666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Decidir qué ver se ha convertido en una tarea abrumadora con tantas plataformas.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804285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Webs anticuadas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521517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Las alternativas actuales son poco intuitivas y están saturadas de publicidad.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474137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700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Nuestra solución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6191369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SONAURA ofrece una interfaz moderna con valoraciones auténticas y contenido fresco.</a:t>
            </a:r>
            <a:endParaRPr lang="en-US" sz="17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A7DA337-AE1F-6FDB-17C5-CA9D03BF22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41733" y="7349718"/>
            <a:ext cx="25146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79451"/>
            <a:ext cx="57440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¿Qué es SONAURA?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283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5270897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53062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Blog especializado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5796677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Aplicación web centrada en cine y series con contenido curado por expertos.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35893" y="52283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0963" y="5270897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3008" y="5306258"/>
            <a:ext cx="33245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Comunidad interactiva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973008" y="5796677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Explora, valora, comenta y conéctate con otros aficionados del cine.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9677995" y="52283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3065" y="5270897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15111" y="53062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Experiencia visual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415111" y="5796677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Diseñada para ser accesible, rápida y visualmente atractiva en cualquier dispositivo.</a:t>
            </a:r>
            <a:endParaRPr lang="en-US" sz="17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CE25DBD-7C94-FF09-BD6F-4FEF28A29F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93046" y="7400925"/>
            <a:ext cx="25146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7435"/>
            <a:ext cx="111371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Características Principales de Sonaura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9843"/>
            <a:ext cx="6407944" cy="2032754"/>
          </a:xfrm>
          <a:prstGeom prst="roundRect">
            <a:avLst>
              <a:gd name="adj" fmla="val 1674"/>
            </a:avLst>
          </a:prstGeom>
          <a:solidFill>
            <a:srgbClr val="26262B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776657"/>
            <a:ext cx="42576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Descubrimiento Simplificado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267075"/>
            <a:ext cx="59543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Página de inicio con Top 5 destacado para eliminar la indecisión. Las mejores películas y series al alcance inmediato.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549843"/>
            <a:ext cx="6408063" cy="2032754"/>
          </a:xfrm>
          <a:prstGeom prst="roundRect">
            <a:avLst>
              <a:gd name="adj" fmla="val 1674"/>
            </a:avLst>
          </a:prstGeom>
          <a:solidFill>
            <a:srgbClr val="26262B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27766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Comunidad Activa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267075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Sistema de valoraciones y comentarios que fomenta conexiones genuinas. Comparte opiniones y descubre recomendaciones de personas afines.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2032754"/>
          </a:xfrm>
          <a:prstGeom prst="roundRect">
            <a:avLst>
              <a:gd name="adj" fmla="val 1674"/>
            </a:avLst>
          </a:prstGeom>
          <a:solidFill>
            <a:srgbClr val="26262B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5036225"/>
            <a:ext cx="30533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Experiencia Premium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526643"/>
            <a:ext cx="59543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Suscripción mensual con lista personalizada y calendario de estrenos. Anticípate a los lanzamientos importantes sin perder detalle.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2032754"/>
          </a:xfrm>
          <a:prstGeom prst="roundRect">
            <a:avLst>
              <a:gd name="adj" fmla="val 1674"/>
            </a:avLst>
          </a:prstGeom>
          <a:solidFill>
            <a:srgbClr val="26262B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5036225"/>
            <a:ext cx="28408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Contenido Editorial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526643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Noticias frescas, entrevistas exclusivas y recomendaciones. Mantente informado sobre las últimas tendencias audiovisuales.</a:t>
            </a:r>
            <a:endParaRPr lang="en-US" sz="17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0C7FFA6-4616-9A85-EB72-28E14EC2C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0" y="7332583"/>
            <a:ext cx="25146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4115"/>
            <a:ext cx="7495699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Identificando la Necesidad del Mercado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2323386"/>
            <a:ext cx="236029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Saturación de Contenido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93790" y="2701171"/>
            <a:ext cx="634162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Los usuarios se sienten abrumados por la inmensa cantidad de opciones en plataformas de streaming. La dificultad para elegir qué ver lleva a la "parálisis por análisis" y a la frustración.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93790" y="3320058"/>
            <a:ext cx="3374231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Experiencias de Usuario Deficientes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93790" y="3697843"/>
            <a:ext cx="634162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Muchas plataformas y sitios de reseñas son anticuados, lentos, poco intuitivos o están repletos de publicidad intrusiva, lo que degrada la experiencia del usuario.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93790" y="4316730"/>
            <a:ext cx="250793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Falta de Conexión Genuina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3790" y="4694515"/>
            <a:ext cx="6341626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Los usuarios buscan recomendaciones auténticas y la posibilidad de interactuar con una comunidad real de aficionados que compartan sus gustos, más allá de algoritmos impersonales.</a:t>
            </a:r>
            <a:endParaRPr lang="en-US" sz="11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604" y="2341840"/>
            <a:ext cx="6341626" cy="422767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4D45D56-1CE0-CB4D-B9FB-9944074CC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5800" y="7400925"/>
            <a:ext cx="25146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846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24983"/>
            <a:ext cx="447794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Tecnologías utilizadas</a:t>
            </a:r>
            <a:endParaRPr lang="en-US" sz="3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459242"/>
            <a:ext cx="396835" cy="3968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88983" y="355342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Backend en Django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1388983" y="3896678"/>
            <a:ext cx="1244762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Framework Python con patrón MTV para desarrollo ágil y seguro.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547592"/>
            <a:ext cx="396835" cy="3968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88983" y="464177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MySQL con Django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1388983" y="4985028"/>
            <a:ext cx="1244762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Base de datos  para gestión eficiente.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635943"/>
            <a:ext cx="396835" cy="3968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88983" y="573012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Gestión integrada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1388983" y="6073378"/>
            <a:ext cx="1244762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Sesiones, permisos y formularios gestionados de manera centralizada.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793790" y="6506051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Servicios Externos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793790" y="6938724"/>
            <a:ext cx="357188" cy="357188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sp>
        <p:nvSpPr>
          <p:cNvPr id="15" name="Text 9"/>
          <p:cNvSpPr/>
          <p:nvPr/>
        </p:nvSpPr>
        <p:spPr>
          <a:xfrm>
            <a:off x="853321" y="6968490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1309687" y="6993255"/>
            <a:ext cx="199929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APIs para búsqueda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5207437" y="6938724"/>
            <a:ext cx="357188" cy="357188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sp>
        <p:nvSpPr>
          <p:cNvPr id="18" name="Text 12"/>
          <p:cNvSpPr/>
          <p:nvPr/>
        </p:nvSpPr>
        <p:spPr>
          <a:xfrm>
            <a:off x="5266968" y="6968490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5723334" y="6993255"/>
            <a:ext cx="208002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Plataformas de pago</a:t>
            </a:r>
            <a:endParaRPr lang="en-US" sz="1550" dirty="0"/>
          </a:p>
        </p:txBody>
      </p:sp>
      <p:sp>
        <p:nvSpPr>
          <p:cNvPr id="20" name="Shape 14"/>
          <p:cNvSpPr/>
          <p:nvPr/>
        </p:nvSpPr>
        <p:spPr>
          <a:xfrm>
            <a:off x="9621203" y="6938724"/>
            <a:ext cx="357188" cy="357188"/>
          </a:xfrm>
          <a:prstGeom prst="roundRect">
            <a:avLst>
              <a:gd name="adj" fmla="val 6668"/>
            </a:avLst>
          </a:prstGeom>
          <a:solidFill>
            <a:srgbClr val="26262B"/>
          </a:solidFill>
          <a:ln/>
        </p:spPr>
      </p:sp>
      <p:sp>
        <p:nvSpPr>
          <p:cNvPr id="21" name="Text 15"/>
          <p:cNvSpPr/>
          <p:nvPr/>
        </p:nvSpPr>
        <p:spPr>
          <a:xfrm>
            <a:off x="9680734" y="6968490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10137100" y="6993255"/>
            <a:ext cx="3699391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Servicios de correo para notificaciones</a:t>
            </a:r>
            <a:endParaRPr lang="en-US" sz="155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0461EE9C-3D09-6FF5-B3E6-F1E93B1605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7900" y="3700462"/>
            <a:ext cx="2514600" cy="828675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882A537-DE6B-EAA9-68D0-0E7990618F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21300" y="7435692"/>
            <a:ext cx="2409100" cy="7939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Diseño e interfaz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30853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Tecnologías 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HTML5 para estructura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CSS3 para estilos modernos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34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JavaScript para interactividad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2928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Experiencia móvil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2928" y="437995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Diseño responsive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32928" y="482215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Adaptación a todos los dispositivos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872067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Identidad visual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2067" y="437995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Paleta morado y negro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872067" y="482215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Elementos interactivos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872067" y="526434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Efectos visuales sutiles</a:t>
            </a:r>
            <a:endParaRPr lang="en-US" sz="17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F07E250-CAFA-65A9-AF98-6CFF567AD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0" y="7362453"/>
            <a:ext cx="25146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4628"/>
            <a:ext cx="99805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Funciones según el tipo de usuario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30" y="1997035"/>
            <a:ext cx="1614011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2613065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88255" y="2223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Administradores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088255" y="2714268"/>
            <a:ext cx="4781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Gestión completa de contenido y moderación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4918115" y="3317081"/>
            <a:ext cx="8861822" cy="15240"/>
          </a:xfrm>
          <a:prstGeom prst="roundRect">
            <a:avLst>
              <a:gd name="adj" fmla="val 223256"/>
            </a:avLst>
          </a:prstGeom>
          <a:solidFill>
            <a:srgbClr val="3F3F44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424" y="3360658"/>
            <a:ext cx="3228022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3814762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95261" y="35874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Premium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5895261" y="4077891"/>
            <a:ext cx="4855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Listas personalizadas y calendario de estrenos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5725120" y="4680704"/>
            <a:ext cx="8054816" cy="15240"/>
          </a:xfrm>
          <a:prstGeom prst="roundRect">
            <a:avLst>
              <a:gd name="adj" fmla="val 223256"/>
            </a:avLst>
          </a:prstGeom>
          <a:solidFill>
            <a:srgbClr val="3F3F44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3418" y="4724281"/>
            <a:ext cx="4842034" cy="13069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892" y="5178385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702266" y="49510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Registrados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6702266" y="5441513"/>
            <a:ext cx="51023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Valoraciones, comentarios y perfil personalizado</a:t>
            </a:r>
            <a:endParaRPr lang="en-US" sz="1750" dirty="0"/>
          </a:p>
        </p:txBody>
      </p:sp>
      <p:sp>
        <p:nvSpPr>
          <p:cNvPr id="17" name="Shape 9"/>
          <p:cNvSpPr/>
          <p:nvPr/>
        </p:nvSpPr>
        <p:spPr>
          <a:xfrm>
            <a:off x="6532126" y="6044327"/>
            <a:ext cx="7247811" cy="15240"/>
          </a:xfrm>
          <a:prstGeom prst="roundRect">
            <a:avLst>
              <a:gd name="adj" fmla="val 223256"/>
            </a:avLst>
          </a:prstGeom>
          <a:solidFill>
            <a:srgbClr val="3F3F44"/>
          </a:solidFill>
          <a:ln/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294" y="6087904"/>
            <a:ext cx="6456164" cy="1306949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4773" y="6542008"/>
            <a:ext cx="318968" cy="39862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09272" y="6314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Visitantes</a:t>
            </a:r>
            <a:endParaRPr lang="en-US" sz="2200" dirty="0"/>
          </a:p>
        </p:txBody>
      </p:sp>
      <p:sp>
        <p:nvSpPr>
          <p:cNvPr id="21" name="Text 11"/>
          <p:cNvSpPr/>
          <p:nvPr/>
        </p:nvSpPr>
        <p:spPr>
          <a:xfrm>
            <a:off x="7509272" y="6805136"/>
            <a:ext cx="416564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Catálogo, Top 5 y noticias de actualidad</a:t>
            </a:r>
            <a:endParaRPr lang="en-US" sz="175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2634E7EF-B0D3-E309-B105-50816487B3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45645" y="7429133"/>
            <a:ext cx="2310688" cy="7614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107811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Seguridad, accesibilidad y usabilidad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87604" y="2861548"/>
            <a:ext cx="29048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Seguridad avanzada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Contraseñas cifradas con PBKDF2 y validación en formularios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31" y="31765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Accesibilidad total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Navegación por teclado y etiquetas HTML semánticas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604" y="3565088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Usabilidad intuitiva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Contraste adecuado y navegación simple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103" y="579096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Inclusión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985986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Diseñada para todo tipo de usuarios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230" y="5402461"/>
            <a:ext cx="339328" cy="42422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982E044-F4F8-F013-C283-CE6A0083DB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15800" y="7395210"/>
            <a:ext cx="25146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55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Valor diferencial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07933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304949"/>
            <a:ext cx="29814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Más visual e intuitiva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795367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Superamos la experiencia de IMDb y FilmAffinity con un diseño contemporáneo.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507933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304949"/>
            <a:ext cx="34716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Valoraciones auténticas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79536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Opiniones de usuarios reales.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507933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304949"/>
            <a:ext cx="31890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Exclusividad premium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795367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Funcionalidades avanzadas que transforman tu experiencia como cinéfilo.</a:t>
            </a:r>
            <a:endParaRPr lang="en-US" sz="175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08ABC33-CBF2-24B0-2C45-D3E1DB75A4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15800" y="7400925"/>
            <a:ext cx="25146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682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08008"/>
            <a:ext cx="633472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Plan de pruebas y fiabilidad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4219337"/>
            <a:ext cx="6453307" cy="181451"/>
          </a:xfrm>
          <a:prstGeom prst="roundRect">
            <a:avLst>
              <a:gd name="adj" fmla="val 15001"/>
            </a:avLst>
          </a:prstGeom>
          <a:solidFill>
            <a:srgbClr val="26262B"/>
          </a:solidFill>
          <a:ln/>
        </p:spPr>
      </p:sp>
      <p:sp>
        <p:nvSpPr>
          <p:cNvPr id="5" name="Text 2"/>
          <p:cNvSpPr/>
          <p:nvPr/>
        </p:nvSpPr>
        <p:spPr>
          <a:xfrm>
            <a:off x="975241" y="4582239"/>
            <a:ext cx="233433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Pruebas funcionales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75241" y="4974550"/>
            <a:ext cx="6090404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Verificación exhaustiva de login, registro, comentarios, sistemas de suscripción y mensajería electrónica.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83185" y="3947160"/>
            <a:ext cx="6453426" cy="181451"/>
          </a:xfrm>
          <a:prstGeom prst="roundRect">
            <a:avLst>
              <a:gd name="adj" fmla="val 15001"/>
            </a:avLst>
          </a:prstGeom>
          <a:solidFill>
            <a:srgbClr val="26262B"/>
          </a:solidFill>
          <a:ln/>
        </p:spPr>
      </p:sp>
      <p:sp>
        <p:nvSpPr>
          <p:cNvPr id="8" name="Text 5"/>
          <p:cNvSpPr/>
          <p:nvPr/>
        </p:nvSpPr>
        <p:spPr>
          <a:xfrm>
            <a:off x="7564636" y="4310063"/>
            <a:ext cx="240303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Seguridad verificada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64636" y="4702373"/>
            <a:ext cx="6090523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Pruebas de penetración y validación de datos para garantizar la protección.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93790" y="6144816"/>
            <a:ext cx="6453307" cy="181451"/>
          </a:xfrm>
          <a:prstGeom prst="roundRect">
            <a:avLst>
              <a:gd name="adj" fmla="val 15001"/>
            </a:avLst>
          </a:prstGeom>
          <a:solidFill>
            <a:srgbClr val="26262B"/>
          </a:solidFill>
          <a:ln/>
        </p:spPr>
      </p:sp>
      <p:sp>
        <p:nvSpPr>
          <p:cNvPr id="11" name="Text 8"/>
          <p:cNvSpPr/>
          <p:nvPr/>
        </p:nvSpPr>
        <p:spPr>
          <a:xfrm>
            <a:off x="975241" y="650771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Cobertura de roles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75241" y="6900029"/>
            <a:ext cx="609040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Todos los tipos de usuario probados en múltiples escenarios de uso.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83185" y="5872639"/>
            <a:ext cx="6453426" cy="181451"/>
          </a:xfrm>
          <a:prstGeom prst="roundRect">
            <a:avLst>
              <a:gd name="adj" fmla="val 15001"/>
            </a:avLst>
          </a:prstGeom>
          <a:solidFill>
            <a:srgbClr val="26262B"/>
          </a:solidFill>
          <a:ln/>
        </p:spPr>
      </p:sp>
      <p:sp>
        <p:nvSpPr>
          <p:cNvPr id="14" name="Text 11"/>
          <p:cNvSpPr/>
          <p:nvPr/>
        </p:nvSpPr>
        <p:spPr>
          <a:xfrm>
            <a:off x="7564636" y="6235541"/>
            <a:ext cx="270819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Estabilidad garantizada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564636" y="6627852"/>
            <a:ext cx="6090523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Comportamiento consistente bajo diferentes cargas de usuarios y dispositivos.</a:t>
            </a:r>
            <a:endParaRPr lang="en-US" sz="14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9E1C64D-39D2-F307-A813-7283913D0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5800" y="7299440"/>
            <a:ext cx="25146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5559"/>
            <a:ext cx="9043154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Ventajas Competitivas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3047405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274219"/>
            <a:ext cx="43831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Modelo de negocio sostenible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764637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Basado en suscripciones premium tanto mensuales como anuales.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047405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3274219"/>
            <a:ext cx="32808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Arquitectura escalable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764637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Permite crecer sin afectar el rendimiento del sistema.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944070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5170884"/>
            <a:ext cx="46929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Código documentado y modular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661303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Facilita las actualizaciones y el mantenimiento a largo plazo.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944070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5170884"/>
            <a:ext cx="33576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Potencial de expansión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661303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Posibilidad de llegar a nuevos mercados y agregar más funcionalidades.</a:t>
            </a:r>
            <a:endParaRPr lang="en-US" sz="17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FBA79CFE-FA04-2D51-4446-FDD2A0B9F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0" y="7400925"/>
            <a:ext cx="25146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722828"/>
            <a:ext cx="8151495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Plan de Implementación y Costes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793790" y="1614488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El desarrollo de SONAURA sigue un proceso estructurado con un presupuesto definido.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139672"/>
            <a:ext cx="963930" cy="11568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50482" y="2332434"/>
            <a:ext cx="269843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Diseño y Planificación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950482" y="2749272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Especificaciones, wireframes y definición de arquitectura técnica.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296483"/>
            <a:ext cx="963930" cy="11568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50482" y="3489246"/>
            <a:ext cx="251269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Desarrollo y Pruebas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950482" y="3906083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Codificación, testing exhaustivo y ajustes de funcionalidad.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453295"/>
            <a:ext cx="963930" cy="11568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50482" y="4646057"/>
            <a:ext cx="305395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Finalización del Proyecto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950482" y="5062895"/>
            <a:ext cx="1188612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Implementación final y lanzamiento de la plataforma.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793790" y="5826919"/>
            <a:ext cx="13042821" cy="1679734"/>
          </a:xfrm>
          <a:prstGeom prst="roundRect">
            <a:avLst>
              <a:gd name="adj" fmla="val 172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1410" y="5834539"/>
            <a:ext cx="13027581" cy="5548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994172" y="5957768"/>
            <a:ext cx="612445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Jefe de proyecto, analista, desarrollador y testers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511772" y="5957768"/>
            <a:ext cx="612445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8.835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801410" y="6389370"/>
            <a:ext cx="13027581" cy="5548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994172" y="6512600"/>
            <a:ext cx="612445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Hosting, dominio, herramientas y servicios cloud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511772" y="6512600"/>
            <a:ext cx="612445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765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01410" y="6944201"/>
            <a:ext cx="13027581" cy="5548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994172" y="7067431"/>
            <a:ext cx="612445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Inversión completa para el desarrollo de SONAURA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511772" y="7067431"/>
            <a:ext cx="612445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9.591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77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Cierre y futuro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2276118"/>
            <a:ext cx="4221480" cy="42214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341" y="2276118"/>
            <a:ext cx="4221599" cy="422159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391" y="2276118"/>
            <a:ext cx="4221599" cy="422159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93790" y="68988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SONAURA no es solo una aplicación, es una comunidad viva que conecta a los aficionados del cine. </a:t>
            </a:r>
            <a:endParaRPr lang="en-US" sz="175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6DE9F98-8821-03A5-9C4C-44F79E60FB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15800" y="7400925"/>
            <a:ext cx="2514600" cy="828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765</Words>
  <Application>Microsoft Office PowerPoint</Application>
  <PresentationFormat>Personalizado</PresentationFormat>
  <Paragraphs>131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Noto Sans TC</vt:lpstr>
      <vt:lpstr>Sora Medium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Marta Moreno Domínguez</cp:lastModifiedBy>
  <cp:revision>2</cp:revision>
  <dcterms:created xsi:type="dcterms:W3CDTF">2025-06-17T12:08:04Z</dcterms:created>
  <dcterms:modified xsi:type="dcterms:W3CDTF">2025-06-17T12:12:20Z</dcterms:modified>
</cp:coreProperties>
</file>